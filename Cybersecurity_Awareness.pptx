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5"/>
    <p:sldId id="258" r:id="rId9"/>
    <p:sldId id="259" r:id="rId8"/>
    <p:sldId id="26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21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298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10" Type="http://schemas.openxmlformats.org/officeDocument/2006/relationships/image" Target="../media/FaShieldAlt_w.png"/><Relationship Id="rId3" Type="http://schemas.openxmlformats.org/officeDocument/2006/relationships/image" Target="../media/image1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10" Type="http://schemas.openxmlformats.org/officeDocument/2006/relationships/image" Target="../media/FaShieldAlt_r.png"/><Relationship Id="rId11" Type="http://schemas.openxmlformats.org/officeDocument/2006/relationships/image" Target="../media/FaFish_w.png"/><Relationship Id="rId12" Type="http://schemas.openxmlformats.org/officeDocument/2006/relationships/image" Target="../media/FaLock_w.png"/><Relationship Id="rId13" Type="http://schemas.openxmlformats.org/officeDocument/2006/relationships/image" Target="../media/FaGlobe_w.png"/><Relationship Id="rId14" Type="http://schemas.openxmlformats.org/officeDocument/2006/relationships/image" Target="../media/FaRobot_w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10" Type="http://schemas.openxmlformats.org/officeDocument/2006/relationships/image" Target="../media/FaShieldAlt_r.png"/><Relationship Id="rId11" Type="http://schemas.openxmlformats.org/officeDocument/2006/relationships/image" Target="../media/FaUsers_n.png"/><Relationship Id="rId12" Type="http://schemas.openxmlformats.org/officeDocument/2006/relationships/image" Target="../media/FaKey_n.png"/><Relationship Id="rId13" Type="http://schemas.openxmlformats.org/officeDocument/2006/relationships/image" Target="../media/FaLaptop_n.png"/><Relationship Id="rId14" Type="http://schemas.openxmlformats.org/officeDocument/2006/relationships/image" Target="../media/FaDatabase_n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10" Type="http://schemas.openxmlformats.org/officeDocument/2006/relationships/image" Target="../media/FaShieldAlt_r.png"/><Relationship Id="rId11" Type="http://schemas.openxmlformats.org/officeDocument/2006/relationships/image" Target="../media/FaFish_w.png"/><Relationship Id="rId12" Type="http://schemas.openxmlformats.org/officeDocument/2006/relationships/image" Target="../media/FaCommentDots_w.png"/><Relationship Id="rId13" Type="http://schemas.openxmlformats.org/officeDocument/2006/relationships/image" Target="../media/FaPhoneAlt_w.png"/><Relationship Id="rId14" Type="http://schemas.openxmlformats.org/officeDocument/2006/relationships/image" Target="../media/FaLock_w.png"/><Relationship Id="rId15" Type="http://schemas.openxmlformats.org/officeDocument/2006/relationships/image" Target="../media/FaBug_w.png"/><Relationship Id="rId16" Type="http://schemas.openxmlformats.org/officeDocument/2006/relationships/image" Target="../media/FaTheaterMasks_w.png"/><Relationship Id="rId17" Type="http://schemas.openxmlformats.org/officeDocument/2006/relationships/image" Target="../media/FaKey_w.png"/><Relationship Id="rId18" Type="http://schemas.openxmlformats.org/officeDocument/2006/relationships/image" Target="../media/FaUserSecret_w.png"/><Relationship Id="rId19" Type="http://schemas.openxmlformats.org/officeDocument/2006/relationships/image" Target="../media/FaCloud_w.png"/><Relationship Id="rId20" Type="http://schemas.openxmlformats.org/officeDocument/2006/relationships/image" Target="../media/FaLink_w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10" Type="http://schemas.openxmlformats.org/officeDocument/2006/relationships/image" Target="../media/FaShieldAlt_r.png"/><Relationship Id="rId11" Type="http://schemas.openxmlformats.org/officeDocument/2006/relationships/image" Target="../media/FaEnvelope_w.png"/><Relationship Id="rId12" Type="http://schemas.openxmlformats.org/officeDocument/2006/relationships/image" Target="../media/FaKey_w.png"/><Relationship Id="rId13" Type="http://schemas.openxmlformats.org/officeDocument/2006/relationships/image" Target="../media/FaUserShield_w.png"/><Relationship Id="rId14" Type="http://schemas.openxmlformats.org/officeDocument/2006/relationships/image" Target="../media/FaSyncAlt_w.png"/><Relationship Id="rId15" Type="http://schemas.openxmlformats.org/officeDocument/2006/relationships/image" Target="../media/FaDatabase_w.png"/><Relationship Id="rId16" Type="http://schemas.openxmlformats.org/officeDocument/2006/relationships/image" Target="../media/FaWifi_w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pattern" descr="decorative 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286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/>
          <p:nvPr/>
        </p:nvSpPr>
        <p:spPr>
          <a:xfrm>
            <a:off x="5184648" y="822960"/>
            <a:ext cx="1828800" cy="1828800"/>
          </a:xfrm>
          <a:prstGeom prst="ellipse">
            <a:avLst/>
          </a:prstGeom>
          <a:solidFill>
            <a:srgbClr val="E83831"/>
          </a:solidFill>
          <a:ln>
            <a:noFill/>
          </a:ln>
        </p:spPr>
      </p:sp>
      <p:pic>
        <p:nvPicPr>
          <p:cNvPr id="12" name="Icon 12" descr="decorativ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3288" y="1371600"/>
            <a:ext cx="731520" cy="73152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457200" y="3017520"/>
            <a:ext cx="1124712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CYBERSECURITY AWARENESS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dirty="0">
                <a:solidFill>
                  <a:srgbClr val="B6997F"/>
                </a:solidFill>
                <a:latin typeface="Arial" pitchFamily="34" charset="0"/>
                <a:cs typeface="Arial" pitchFamily="34" charset="0"/>
              </a:rPr>
              <a:t>MODERN CHALLENGES AND HOW TO RESPOND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Presented by Ayorinde Ashogbon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dirty="0">
                <a:solidFill>
                  <a:srgbClr val="B6997F"/>
                </a:solidFill>
                <a:latin typeface="Arial" pitchFamily="34" charset="0"/>
                <a:cs typeface="Arial" pitchFamily="34" charset="0"/>
              </a:rPr>
              <a:t>For IT and Cybersecurity Professionals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con 11" descr="decorativ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74320"/>
            <a:ext cx="457200" cy="45720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274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869680" y="365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200" b="1" i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Cyber Awareness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E83831"/>
                </a:solidFill>
                <a:latin typeface="Arial" pitchFamily="34" charset="0"/>
                <a:cs typeface="Arial" pitchFamily="34" charset="0"/>
              </a:rPr>
              <a:t>The Modern Threat Landscape and Key Terms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38160" y="6446520"/>
            <a:ext cx="3657600" cy="3200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6" name="Shape 16"/>
          <p:cNvSpPr/>
          <p:nvPr/>
        </p:nvSpPr>
        <p:spPr>
          <a:xfrm>
            <a:off x="457200" y="1920240"/>
            <a:ext cx="731520" cy="73152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17" name="Icon 17" descr="decorativ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2103120"/>
            <a:ext cx="365760" cy="365760"/>
          </a:xfrm>
          <a:prstGeom prst="rect">
            <a:avLst/>
          </a:prstGeom>
        </p:spPr>
      </p:pic>
      <p:sp>
        <p:nvSpPr>
          <p:cNvPr id="18" name="Text 18"/>
          <p:cNvSpPr txBox="1"/>
          <p:nvPr/>
        </p:nvSpPr>
        <p:spPr>
          <a:xfrm>
            <a:off x="1371600" y="1828800"/>
            <a:ext cx="5486400" cy="9144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Phishing and social engineering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Attackers target people first; it remains a leading way into organisations.</a:t>
            </a:r>
          </a:p>
        </p:txBody>
      </p:sp>
      <p:sp>
        <p:nvSpPr>
          <p:cNvPr id="19" name="Shape 19"/>
          <p:cNvSpPr/>
          <p:nvPr/>
        </p:nvSpPr>
        <p:spPr>
          <a:xfrm>
            <a:off x="457200" y="3017520"/>
            <a:ext cx="731520" cy="73152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20" name="Icon 20" descr="decorativ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21" name="Text 21"/>
          <p:cNvSpPr txBox="1"/>
          <p:nvPr/>
        </p:nvSpPr>
        <p:spPr>
          <a:xfrm>
            <a:off x="1371600" y="2926080"/>
            <a:ext cx="5486400" cy="9144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Ransomware and double extortion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Data is encrypted and stolen, then its publication is threatened.</a:t>
            </a:r>
          </a:p>
        </p:txBody>
      </p:sp>
      <p:sp>
        <p:nvSpPr>
          <p:cNvPr id="22" name="Shape 22"/>
          <p:cNvSpPr/>
          <p:nvPr/>
        </p:nvSpPr>
        <p:spPr>
          <a:xfrm>
            <a:off x="457200" y="4114800"/>
            <a:ext cx="731520" cy="73152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23" name="Icon 23" descr="decorative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" y="4297680"/>
            <a:ext cx="365760" cy="365760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1371600" y="4023360"/>
            <a:ext cx="5486400" cy="9144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 growing attack surface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Remote work, cloud and personal devices extend exposure beyond the office.</a:t>
            </a:r>
          </a:p>
        </p:txBody>
      </p:sp>
      <p:sp>
        <p:nvSpPr>
          <p:cNvPr id="25" name="Shape 25"/>
          <p:cNvSpPr/>
          <p:nvPr/>
        </p:nvSpPr>
        <p:spPr>
          <a:xfrm>
            <a:off x="457200" y="5212080"/>
            <a:ext cx="731520" cy="73152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26" name="Icon 26" descr="decorativ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" y="5394960"/>
            <a:ext cx="365760" cy="365760"/>
          </a:xfrm>
          <a:prstGeom prst="rect">
            <a:avLst/>
          </a:prstGeom>
        </p:spPr>
      </p:pic>
      <p:sp>
        <p:nvSpPr>
          <p:cNvPr id="27" name="Text 27"/>
          <p:cNvSpPr txBox="1"/>
          <p:nvPr/>
        </p:nvSpPr>
        <p:spPr>
          <a:xfrm>
            <a:off x="1371600" y="5120640"/>
            <a:ext cx="5486400" cy="9144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AI-enabled attacks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Convincing phishing text, voice cloning and deepfakes at low cost.</a:t>
            </a:r>
          </a:p>
        </p:txBody>
      </p:sp>
      <p:sp>
        <p:nvSpPr>
          <p:cNvPr id="28" name="Shape 28"/>
          <p:cNvSpPr/>
          <p:nvPr/>
        </p:nvSpPr>
        <p:spPr>
          <a:xfrm>
            <a:off x="7223760" y="1783080"/>
            <a:ext cx="4572000" cy="4434840"/>
          </a:xfrm>
          <a:prstGeom prst="roundRect">
            <a:avLst>
              <a:gd name="adj" fmla="val 2500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7406640" y="1874520"/>
            <a:ext cx="420624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E83831"/>
                </a:solidFill>
                <a:latin typeface="Arial" pitchFamily="34" charset="0"/>
                <a:cs typeface="Arial" pitchFamily="34" charset="0"/>
              </a:rPr>
              <a:t>Basic terms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406640" y="2377440"/>
            <a:ext cx="4206240" cy="374904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Threat: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anything that can cause harm to an asset.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Vulnerability: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a weakness that can be exploited.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Risk: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the likelihood and impact of a threat exploiting a vulnerability.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Attack surface: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all the points where an attacker could try to get in.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Breach: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confirmed unauthorised access to, or loss of,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con 11" descr="decorativ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74320"/>
            <a:ext cx="457200" cy="45720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274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869680" y="365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200" b="1" i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Cyber Awareness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E83831"/>
                </a:solidFill>
                <a:latin typeface="Arial" pitchFamily="34" charset="0"/>
                <a:cs typeface="Arial" pitchFamily="34" charset="0"/>
              </a:rPr>
              <a:t>Defence in Depth: Four Layers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38160" y="6446520"/>
            <a:ext cx="3657600" cy="3200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6" name="Shape 16"/>
          <p:cNvSpPr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solidFill>
            <a:srgbClr val="0B314F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31520" y="1965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8" name="Icon 18" descr="decorativ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" y="2125980"/>
            <a:ext cx="320040" cy="320040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1554480" y="1783080"/>
            <a:ext cx="256032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People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114800" y="1783080"/>
            <a:ext cx="740664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Awareness training and easy reporting of suspicious messages. Social engineering is manipulating people into giving access or information.</a:t>
            </a:r>
          </a:p>
        </p:txBody>
      </p:sp>
      <p:sp>
        <p:nvSpPr>
          <p:cNvPr id="21" name="Shape 21"/>
          <p:cNvSpPr/>
          <p:nvPr/>
        </p:nvSpPr>
        <p:spPr>
          <a:xfrm>
            <a:off x="548640" y="2898648"/>
            <a:ext cx="11064240" cy="1005840"/>
          </a:xfrm>
          <a:prstGeom prst="rect">
            <a:avLst/>
          </a:prstGeom>
          <a:solidFill>
            <a:srgbClr val="1B4A6F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731520" y="3081528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23" name="Icon 23" descr="decorativ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" y="3241548"/>
            <a:ext cx="320040" cy="320040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1554480" y="2898648"/>
            <a:ext cx="256032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Access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114800" y="2898648"/>
            <a:ext cx="740664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MFA (multi-factor authentication) adds a second proof of identity beyond the password. Least privilege gives users only the access they need.</a:t>
            </a:r>
          </a:p>
        </p:txBody>
      </p:sp>
      <p:sp>
        <p:nvSpPr>
          <p:cNvPr id="26" name="Shape 26"/>
          <p:cNvSpPr/>
          <p:nvPr/>
        </p:nvSpPr>
        <p:spPr>
          <a:xfrm>
            <a:off x="548640" y="4014216"/>
            <a:ext cx="11064240" cy="1005840"/>
          </a:xfrm>
          <a:prstGeom prst="rect">
            <a:avLst/>
          </a:prstGeom>
          <a:solidFill>
            <a:srgbClr val="E83831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731520" y="4197096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28" name="Icon 28" descr="decorative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" y="4357116"/>
            <a:ext cx="320040" cy="320040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1554480" y="4014216"/>
            <a:ext cx="256032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Devices and Network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114800" y="4014216"/>
            <a:ext cx="740664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Patching applies updates that fix known flaws. EDR (endpoint detection and response) watches devices for attacks. Firewalls filter traffic.</a:t>
            </a:r>
          </a:p>
        </p:txBody>
      </p:sp>
      <p:sp>
        <p:nvSpPr>
          <p:cNvPr id="31" name="Shape 31"/>
          <p:cNvSpPr/>
          <p:nvPr/>
        </p:nvSpPr>
        <p:spPr>
          <a:xfrm>
            <a:off x="548640" y="5129784"/>
            <a:ext cx="11064240" cy="1005840"/>
          </a:xfrm>
          <a:prstGeom prst="rect">
            <a:avLst/>
          </a:prstGeom>
          <a:solidFill>
            <a:srgbClr val="B6997F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731520" y="5312664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3" name="Icon 33" descr="decorativ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540" y="5472684"/>
            <a:ext cx="320040" cy="320040"/>
          </a:xfrm>
          <a:prstGeom prst="rect">
            <a:avLst/>
          </a:prstGeom>
        </p:spPr>
      </p:pic>
      <p:sp>
        <p:nvSpPr>
          <p:cNvPr id="34" name="Text 34"/>
          <p:cNvSpPr txBox="1"/>
          <p:nvPr/>
        </p:nvSpPr>
        <p:spPr>
          <a:xfrm>
            <a:off x="1554480" y="5129784"/>
            <a:ext cx="256032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Data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114800" y="5129784"/>
            <a:ext cx="7406640" cy="10058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Encryption makes data unreadable without a key. Tested backups and an incident response plan let you recover quickly.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con 11" descr="decorativ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74320"/>
            <a:ext cx="457200" cy="45720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274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869680" y="365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200" b="1" i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Cyber Awareness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E83831"/>
                </a:solidFill>
                <a:latin typeface="Arial" pitchFamily="34" charset="0"/>
                <a:cs typeface="Arial" pitchFamily="34" charset="0"/>
              </a:rPr>
              <a:t>Ten Threats Everyone Should Know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38160" y="6446520"/>
            <a:ext cx="3657600" cy="3200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6" name="Shape 16"/>
          <p:cNvSpPr/>
          <p:nvPr/>
        </p:nvSpPr>
        <p:spPr>
          <a:xfrm>
            <a:off x="548640" y="1783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18" name="Icon 18" descr="decorativ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2057400"/>
            <a:ext cx="274320" cy="274320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640080" y="2514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Phishing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0080" y="3017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Fake emails that trick users into clicking links or giving up credentials.</a:t>
            </a:r>
          </a:p>
        </p:txBody>
      </p:sp>
      <p:sp>
        <p:nvSpPr>
          <p:cNvPr id="21" name="Shape 21"/>
          <p:cNvSpPr/>
          <p:nvPr/>
        </p:nvSpPr>
        <p:spPr>
          <a:xfrm>
            <a:off x="2788920" y="1783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2926080" y="1920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23" name="Icon 23" descr="decorativ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63240" y="2057400"/>
            <a:ext cx="274320" cy="274320"/>
          </a:xfrm>
          <a:prstGeom prst="rect">
            <a:avLst/>
          </a:prstGeom>
        </p:spPr>
      </p:pic>
      <p:sp>
        <p:nvSpPr>
          <p:cNvPr id="24" name="Text 24"/>
          <p:cNvSpPr txBox="1"/>
          <p:nvPr/>
        </p:nvSpPr>
        <p:spPr>
          <a:xfrm>
            <a:off x="2880360" y="2514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Smishing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2880360" y="3017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Phishing delivered by SMS or messaging apps.</a:t>
            </a:r>
          </a:p>
        </p:txBody>
      </p:sp>
      <p:sp>
        <p:nvSpPr>
          <p:cNvPr id="26" name="Shape 26"/>
          <p:cNvSpPr/>
          <p:nvPr/>
        </p:nvSpPr>
        <p:spPr>
          <a:xfrm>
            <a:off x="5029200" y="1783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5166360" y="1920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28" name="Icon 28" descr="decorative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03520" y="2057400"/>
            <a:ext cx="274320" cy="274320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5120640" y="2514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Vishing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120640" y="3017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Voice-call scams that impersonate trusted people or staff.</a:t>
            </a:r>
          </a:p>
        </p:txBody>
      </p:sp>
      <p:sp>
        <p:nvSpPr>
          <p:cNvPr id="31" name="Shape 31"/>
          <p:cNvSpPr/>
          <p:nvPr/>
        </p:nvSpPr>
        <p:spPr>
          <a:xfrm>
            <a:off x="7269480" y="1783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32" name="Shape 32"/>
          <p:cNvSpPr/>
          <p:nvPr/>
        </p:nvSpPr>
        <p:spPr>
          <a:xfrm>
            <a:off x="7406640" y="1920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33" name="Icon 33" descr="decorativ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2057400"/>
            <a:ext cx="274320" cy="274320"/>
          </a:xfrm>
          <a:prstGeom prst="rect">
            <a:avLst/>
          </a:prstGeom>
        </p:spPr>
      </p:pic>
      <p:sp>
        <p:nvSpPr>
          <p:cNvPr id="34" name="Text 34"/>
          <p:cNvSpPr txBox="1"/>
          <p:nvPr/>
        </p:nvSpPr>
        <p:spPr>
          <a:xfrm>
            <a:off x="7360920" y="2514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Ransomware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360920" y="3017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Malware that encrypts data and demands payment for access.</a:t>
            </a:r>
          </a:p>
        </p:txBody>
      </p:sp>
      <p:sp>
        <p:nvSpPr>
          <p:cNvPr id="36" name="Shape 36"/>
          <p:cNvSpPr/>
          <p:nvPr/>
        </p:nvSpPr>
        <p:spPr>
          <a:xfrm>
            <a:off x="9509760" y="1783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37" name="Shape 37"/>
          <p:cNvSpPr/>
          <p:nvPr/>
        </p:nvSpPr>
        <p:spPr>
          <a:xfrm>
            <a:off x="9646920" y="1920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38" name="Icon 38" descr="decorative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84080" y="2057400"/>
            <a:ext cx="274320" cy="274320"/>
          </a:xfrm>
          <a:prstGeom prst="rect">
            <a:avLst/>
          </a:prstGeom>
        </p:spPr>
      </p:pic>
      <p:sp>
        <p:nvSpPr>
          <p:cNvPr id="39" name="Text 39"/>
          <p:cNvSpPr txBox="1"/>
          <p:nvPr/>
        </p:nvSpPr>
        <p:spPr>
          <a:xfrm>
            <a:off x="9601200" y="2514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Malware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9601200" y="3017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Malicious software such as viruses, trojans and spyware.</a:t>
            </a:r>
          </a:p>
        </p:txBody>
      </p:sp>
      <p:sp>
        <p:nvSpPr>
          <p:cNvPr id="41" name="Shape 41"/>
          <p:cNvSpPr/>
          <p:nvPr/>
        </p:nvSpPr>
        <p:spPr>
          <a:xfrm>
            <a:off x="548640" y="4069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42" name="Shape 42"/>
          <p:cNvSpPr/>
          <p:nvPr/>
        </p:nvSpPr>
        <p:spPr>
          <a:xfrm>
            <a:off x="685800" y="4206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43" name="Icon 43" descr="decorative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2960" y="4343400"/>
            <a:ext cx="274320" cy="274320"/>
          </a:xfrm>
          <a:prstGeom prst="rect">
            <a:avLst/>
          </a:prstGeom>
        </p:spPr>
      </p:pic>
      <p:sp>
        <p:nvSpPr>
          <p:cNvPr id="44" name="Text 44"/>
          <p:cNvSpPr txBox="1"/>
          <p:nvPr/>
        </p:nvSpPr>
        <p:spPr>
          <a:xfrm>
            <a:off x="640080" y="4800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Deepfakes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40080" y="5303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AI-generated fake audio, video or images of real people.</a:t>
            </a:r>
          </a:p>
        </p:txBody>
      </p:sp>
      <p:sp>
        <p:nvSpPr>
          <p:cNvPr id="46" name="Shape 46"/>
          <p:cNvSpPr/>
          <p:nvPr/>
        </p:nvSpPr>
        <p:spPr>
          <a:xfrm>
            <a:off x="2788920" y="4069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47" name="Shape 47"/>
          <p:cNvSpPr/>
          <p:nvPr/>
        </p:nvSpPr>
        <p:spPr>
          <a:xfrm>
            <a:off x="2926080" y="4206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48" name="Icon 48" descr="decorative 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63240" y="4343400"/>
            <a:ext cx="274320" cy="274320"/>
          </a:xfrm>
          <a:prstGeom prst="rect">
            <a:avLst/>
          </a:prstGeom>
        </p:spPr>
      </p:pic>
      <p:sp>
        <p:nvSpPr>
          <p:cNvPr id="49" name="Text 49"/>
          <p:cNvSpPr txBox="1"/>
          <p:nvPr/>
        </p:nvSpPr>
        <p:spPr>
          <a:xfrm>
            <a:off x="2880360" y="4800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Weak passwords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2880360" y="5303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Short or reused logins; credential stuffing tries leaked ones on other sites.</a:t>
            </a:r>
          </a:p>
        </p:txBody>
      </p:sp>
      <p:sp>
        <p:nvSpPr>
          <p:cNvPr id="51" name="Shape 51"/>
          <p:cNvSpPr/>
          <p:nvPr/>
        </p:nvSpPr>
        <p:spPr>
          <a:xfrm>
            <a:off x="5029200" y="4069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52" name="Shape 52"/>
          <p:cNvSpPr/>
          <p:nvPr/>
        </p:nvSpPr>
        <p:spPr>
          <a:xfrm>
            <a:off x="5166360" y="4206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53" name="Icon 53" descr="decorative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03520" y="4343400"/>
            <a:ext cx="274320" cy="274320"/>
          </a:xfrm>
          <a:prstGeom prst="rect">
            <a:avLst/>
          </a:prstGeom>
        </p:spPr>
      </p:pic>
      <p:sp>
        <p:nvSpPr>
          <p:cNvPr id="54" name="Text 54"/>
          <p:cNvSpPr txBox="1"/>
          <p:nvPr/>
        </p:nvSpPr>
        <p:spPr>
          <a:xfrm>
            <a:off x="5120640" y="4800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Insider risk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5120640" y="5303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Misuse or mistakes by staff or partners who have legitimate access.</a:t>
            </a:r>
          </a:p>
        </p:txBody>
      </p:sp>
      <p:sp>
        <p:nvSpPr>
          <p:cNvPr id="56" name="Shape 56"/>
          <p:cNvSpPr/>
          <p:nvPr/>
        </p:nvSpPr>
        <p:spPr>
          <a:xfrm>
            <a:off x="7269480" y="4069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57" name="Shape 57"/>
          <p:cNvSpPr/>
          <p:nvPr/>
        </p:nvSpPr>
        <p:spPr>
          <a:xfrm>
            <a:off x="7406640" y="4206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58" name="Icon 58" descr="decorative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4343400"/>
            <a:ext cx="274320" cy="274320"/>
          </a:xfrm>
          <a:prstGeom prst="rect">
            <a:avLst/>
          </a:prstGeom>
        </p:spPr>
      </p:pic>
      <p:sp>
        <p:nvSpPr>
          <p:cNvPr id="59" name="Text 59"/>
          <p:cNvSpPr txBox="1"/>
          <p:nvPr/>
        </p:nvSpPr>
        <p:spPr>
          <a:xfrm>
            <a:off x="7360920" y="4800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Cloud misconfiguration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7360920" y="5303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Insecure settings such as public storage or open ports.</a:t>
            </a:r>
          </a:p>
        </p:txBody>
      </p:sp>
      <p:sp>
        <p:nvSpPr>
          <p:cNvPr id="61" name="Shape 61"/>
          <p:cNvSpPr/>
          <p:nvPr/>
        </p:nvSpPr>
        <p:spPr>
          <a:xfrm>
            <a:off x="9509760" y="4069080"/>
            <a:ext cx="2103120" cy="2103120"/>
          </a:xfrm>
          <a:prstGeom prst="roundRect">
            <a:avLst>
              <a:gd name="adj" fmla="val 5185"/>
            </a:avLst>
          </a:prstGeom>
          <a:solidFill>
            <a:srgbClr val="F5F3F0"/>
          </a:solidFill>
          <a:ln w="15875">
            <a:solidFill>
              <a:srgbClr val="0B314F"/>
            </a:solidFill>
          </a:ln>
        </p:spPr>
      </p:sp>
      <p:sp>
        <p:nvSpPr>
          <p:cNvPr id="62" name="Shape 62"/>
          <p:cNvSpPr/>
          <p:nvPr/>
        </p:nvSpPr>
        <p:spPr>
          <a:xfrm>
            <a:off x="9646920" y="4206240"/>
            <a:ext cx="548640" cy="54864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63" name="Icon 63" descr="decorative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84080" y="4343400"/>
            <a:ext cx="274320" cy="274320"/>
          </a:xfrm>
          <a:prstGeom prst="rect">
            <a:avLst/>
          </a:prstGeom>
        </p:spPr>
      </p:pic>
      <p:sp>
        <p:nvSpPr>
          <p:cNvPr id="64" name="Text 64"/>
          <p:cNvSpPr txBox="1"/>
          <p:nvPr/>
        </p:nvSpPr>
        <p:spPr>
          <a:xfrm>
            <a:off x="9601200" y="4800600"/>
            <a:ext cx="1920240" cy="50292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Supply chain attack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9601200" y="5303520"/>
            <a:ext cx="1920240" cy="822960"/>
          </a:xfrm>
          <a:prstGeom prst="rect">
            <a:avLst/>
          </a:prstGeom>
          <a:noFill/>
        </p:spPr>
        <p:txBody>
          <a:bodyPr wrap="square" lIns="45720" rIns="45720" tIns="45720" bIns="4572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Compromise through a vendor, software update or third party.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con 11" descr="decorative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74320"/>
            <a:ext cx="457200" cy="457200"/>
          </a:xfrm>
          <a:prstGeom prst="rect">
            <a:avLst/>
          </a:prstGeom>
        </p:spPr>
      </p:pic>
      <p:sp>
        <p:nvSpPr>
          <p:cNvPr id="12" name="Text 12"/>
          <p:cNvSpPr txBox="1"/>
          <p:nvPr/>
        </p:nvSpPr>
        <p:spPr>
          <a:xfrm>
            <a:off x="914400" y="274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869680" y="365760"/>
            <a:ext cx="2926080" cy="36576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200" b="1" i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Cyber Awareness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000" b="1" dirty="0">
                <a:solidFill>
                  <a:srgbClr val="E83831"/>
                </a:solidFill>
                <a:latin typeface="Arial" pitchFamily="34" charset="0"/>
                <a:cs typeface="Arial" pitchFamily="34" charset="0"/>
              </a:rPr>
              <a:t>What You Can Do Today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38160" y="6446520"/>
            <a:ext cx="3657600" cy="32004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cs typeface="Arial" pitchFamily="34" charset="0"/>
              </a:rPr>
              <a:t>Ayorinde Ashogbon</a:t>
            </a:r>
          </a:p>
        </p:txBody>
      </p:sp>
      <p:sp>
        <p:nvSpPr>
          <p:cNvPr id="16" name="Shape 16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0B314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234440" y="1783080"/>
            <a:ext cx="274320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Threat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3383280" y="1783080"/>
            <a:ext cx="393192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Warning sign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315200" y="1783080"/>
            <a:ext cx="438912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Your action</a:t>
            </a:r>
          </a:p>
        </p:txBody>
      </p:sp>
      <p:sp>
        <p:nvSpPr>
          <p:cNvPr id="20" name="Shape 20"/>
          <p:cNvSpPr/>
          <p:nvPr/>
        </p:nvSpPr>
        <p:spPr>
          <a:xfrm>
            <a:off x="548640" y="2240280"/>
            <a:ext cx="11064240" cy="621792"/>
          </a:xfrm>
          <a:prstGeom prst="rect">
            <a:avLst/>
          </a:prstGeom>
          <a:solidFill>
            <a:srgbClr val="F5F3F0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640080" y="2322576"/>
            <a:ext cx="457200" cy="45720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22" name="Icon 22" descr="decorative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" y="2436876"/>
            <a:ext cx="228600" cy="228600"/>
          </a:xfrm>
          <a:prstGeom prst="rect">
            <a:avLst/>
          </a:prstGeom>
        </p:spPr>
      </p:pic>
      <p:sp>
        <p:nvSpPr>
          <p:cNvPr id="23" name="Text 23"/>
          <p:cNvSpPr txBox="1"/>
          <p:nvPr/>
        </p:nvSpPr>
        <p:spPr>
          <a:xfrm>
            <a:off x="1234440" y="2240280"/>
            <a:ext cx="205740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Phishing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3383280" y="2240280"/>
            <a:ext cx="38404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Urgent tone, unexpected sender or link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315200" y="2240280"/>
            <a:ext cx="42976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Do not click; report to the security team</a:t>
            </a:r>
          </a:p>
        </p:txBody>
      </p:sp>
      <p:sp>
        <p:nvSpPr>
          <p:cNvPr id="26" name="Shape 26"/>
          <p:cNvSpPr/>
          <p:nvPr/>
        </p:nvSpPr>
        <p:spPr>
          <a:xfrm>
            <a:off x="548640" y="2862072"/>
            <a:ext cx="11064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28" name="Icon 28" descr="decorative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" y="3058668"/>
            <a:ext cx="228600" cy="228600"/>
          </a:xfrm>
          <a:prstGeom prst="rect">
            <a:avLst/>
          </a:prstGeom>
        </p:spPr>
      </p:pic>
      <p:sp>
        <p:nvSpPr>
          <p:cNvPr id="29" name="Text 29"/>
          <p:cNvSpPr txBox="1"/>
          <p:nvPr/>
        </p:nvSpPr>
        <p:spPr>
          <a:xfrm>
            <a:off x="1234440" y="2862072"/>
            <a:ext cx="205740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Passwords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3383280" y="2862072"/>
            <a:ext cx="38404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Reused or short passwords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7315200" y="2862072"/>
            <a:ext cx="42976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Use a password manager and unique passphrases</a:t>
            </a:r>
          </a:p>
        </p:txBody>
      </p:sp>
      <p:sp>
        <p:nvSpPr>
          <p:cNvPr id="32" name="Shape 32"/>
          <p:cNvSpPr/>
          <p:nvPr/>
        </p:nvSpPr>
        <p:spPr>
          <a:xfrm>
            <a:off x="548640" y="3483864"/>
            <a:ext cx="11064240" cy="621792"/>
          </a:xfrm>
          <a:prstGeom prst="rect">
            <a:avLst/>
          </a:prstGeom>
          <a:solidFill>
            <a:srgbClr val="F5F3F0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34" name="Icon 34" descr="decorative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380" y="3680460"/>
            <a:ext cx="228600" cy="228600"/>
          </a:xfrm>
          <a:prstGeom prst="rect">
            <a:avLst/>
          </a:prstGeom>
        </p:spPr>
      </p:pic>
      <p:sp>
        <p:nvSpPr>
          <p:cNvPr id="35" name="Text 35"/>
          <p:cNvSpPr txBox="1"/>
          <p:nvPr/>
        </p:nvSpPr>
        <p:spPr>
          <a:xfrm>
            <a:off x="1234440" y="3483864"/>
            <a:ext cx="205740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Accounts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3383280" y="3483864"/>
            <a:ext cx="38404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No second step at login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315200" y="3483864"/>
            <a:ext cx="42976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Enable MFA everywhere</a:t>
            </a:r>
          </a:p>
        </p:txBody>
      </p:sp>
      <p:sp>
        <p:nvSpPr>
          <p:cNvPr id="38" name="Shape 38"/>
          <p:cNvSpPr/>
          <p:nvPr/>
        </p:nvSpPr>
        <p:spPr>
          <a:xfrm>
            <a:off x="548640" y="4105656"/>
            <a:ext cx="11064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40" name="Icon 40" descr="decorative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" y="4302252"/>
            <a:ext cx="228600" cy="228600"/>
          </a:xfrm>
          <a:prstGeom prst="rect">
            <a:avLst/>
          </a:prstGeom>
        </p:spPr>
      </p:pic>
      <p:sp>
        <p:nvSpPr>
          <p:cNvPr id="41" name="Text 41"/>
          <p:cNvSpPr txBox="1"/>
          <p:nvPr/>
        </p:nvSpPr>
        <p:spPr>
          <a:xfrm>
            <a:off x="1234440" y="4105656"/>
            <a:ext cx="205740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Software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3383280" y="4105656"/>
            <a:ext cx="38404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Ignored update prompts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7315200" y="4105656"/>
            <a:ext cx="42976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Patch promptly; automate where possible</a:t>
            </a:r>
          </a:p>
        </p:txBody>
      </p:sp>
      <p:sp>
        <p:nvSpPr>
          <p:cNvPr id="44" name="Shape 44"/>
          <p:cNvSpPr/>
          <p:nvPr/>
        </p:nvSpPr>
        <p:spPr>
          <a:xfrm>
            <a:off x="548640" y="4727448"/>
            <a:ext cx="11064240" cy="621792"/>
          </a:xfrm>
          <a:prstGeom prst="rect">
            <a:avLst/>
          </a:prstGeom>
          <a:solidFill>
            <a:srgbClr val="F5F3F0"/>
          </a:solidFill>
          <a:ln>
            <a:noFill/>
          </a:ln>
        </p:spPr>
      </p:sp>
      <p:sp>
        <p:nvSpPr>
          <p:cNvPr id="45" name="Shape 45"/>
          <p:cNvSpPr/>
          <p:nvPr/>
        </p:nvSpPr>
        <p:spPr>
          <a:xfrm>
            <a:off x="640080" y="4809744"/>
            <a:ext cx="457200" cy="45720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46" name="Icon 46" descr="decorative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380" y="4924044"/>
            <a:ext cx="228600" cy="228600"/>
          </a:xfrm>
          <a:prstGeom prst="rect">
            <a:avLst/>
          </a:prstGeom>
        </p:spPr>
      </p:pic>
      <p:sp>
        <p:nvSpPr>
          <p:cNvPr id="47" name="Text 47"/>
          <p:cNvSpPr txBox="1"/>
          <p:nvPr/>
        </p:nvSpPr>
        <p:spPr>
          <a:xfrm>
            <a:off x="1234440" y="4727448"/>
            <a:ext cx="205740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Data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3383280" y="4727448"/>
            <a:ext cx="38404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No recent, tested backup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315200" y="4727448"/>
            <a:ext cx="42976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Keep an offline copy and test restores</a:t>
            </a:r>
          </a:p>
        </p:txBody>
      </p:sp>
      <p:sp>
        <p:nvSpPr>
          <p:cNvPr id="50" name="Shape 50"/>
          <p:cNvSpPr/>
          <p:nvPr/>
        </p:nvSpPr>
        <p:spPr>
          <a:xfrm>
            <a:off x="548640" y="5349240"/>
            <a:ext cx="11064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1" name="Shape 51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0B314F"/>
          </a:solidFill>
          <a:ln>
            <a:noFill/>
          </a:ln>
        </p:spPr>
      </p:sp>
      <p:pic>
        <p:nvPicPr>
          <p:cNvPr id="52" name="Icon 52" descr="decorative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380" y="5545836"/>
            <a:ext cx="228600" cy="228600"/>
          </a:xfrm>
          <a:prstGeom prst="rect">
            <a:avLst/>
          </a:prstGeom>
        </p:spPr>
      </p:pic>
      <p:sp>
        <p:nvSpPr>
          <p:cNvPr id="53" name="Text 53"/>
          <p:cNvSpPr txBox="1"/>
          <p:nvPr/>
        </p:nvSpPr>
        <p:spPr>
          <a:xfrm>
            <a:off x="1234440" y="5349240"/>
            <a:ext cx="205740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Public Wi-Fi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3383280" y="5349240"/>
            <a:ext cx="38404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Open or unknown networks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7315200" y="5349240"/>
            <a:ext cx="4297680" cy="621792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cs typeface="Arial" pitchFamily="34" charset="0"/>
              </a:rPr>
              <a:t>Use a VPN or mobile data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lIns="45720" rIns="45720" tIns="45720" bIns="4572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B314F"/>
                </a:solidFill>
                <a:latin typeface="Arial" pitchFamily="34" charset="0"/>
                <a:cs typeface="Arial" pitchFamily="34" charset="0"/>
              </a:rPr>
              <a:t>Think before you click. Report early. Security is everyone’s job.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1496</Words>
  <Application>Microsoft Office PowerPoint</Application>
  <PresentationFormat>Widescreen</PresentationFormat>
  <Paragraphs>192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Ayorinde Ashogbon</cp:lastModifiedBy>
  <cp:revision>4</cp:revision>
  <dcterms:created xsi:type="dcterms:W3CDTF">2026-08-16T18:36:24Z</dcterms:created>
  <dcterms:modified xsi:type="dcterms:W3CDTF">2026-08-17T00:00:46Z</dcterms:modified>
</cp:coreProperties>
</file>